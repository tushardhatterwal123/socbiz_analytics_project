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5.xml" ContentType="application/vnd.openxmlformats-officedocument.presentationml.notesSlide+xml"/>
  <Override PartName="/ppt/charts/chart5.xml" ContentType="application/vnd.openxmlformats-officedocument.drawingml.chart+xml"/>
  <Override PartName="/ppt/notesSlides/notesSlide6.xml" ContentType="application/vnd.openxmlformats-officedocument.presentationml.notesSlide+xml"/>
  <Override PartName="/ppt/charts/chart6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8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FFFFFF"/>
                </a:solidFill>
                <a:latin typeface="Arial"/>
              </a:rPr>
              <a:t>ACN — Session Volume by Hour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Sessions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0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  <c:pt idx="4">
                  <c:v>8</c:v>
                </c:pt>
                <c:pt idx="5">
                  <c:v>10</c:v>
                </c:pt>
                <c:pt idx="6">
                  <c:v>12</c:v>
                </c:pt>
                <c:pt idx="7">
                  <c:v>14</c:v>
                </c:pt>
                <c:pt idx="8">
                  <c:v>16</c:v>
                </c:pt>
                <c:pt idx="9">
                  <c:v>18</c:v>
                </c:pt>
                <c:pt idx="10">
                  <c:v>20</c:v>
                </c:pt>
                <c:pt idx="11">
                  <c:v>22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95</c:v>
                </c:pt>
                <c:pt idx="1">
                  <c:v>60</c:v>
                </c:pt>
                <c:pt idx="2">
                  <c:v>40</c:v>
                </c:pt>
                <c:pt idx="3">
                  <c:v>55</c:v>
                </c:pt>
                <c:pt idx="4">
                  <c:v>410</c:v>
                </c:pt>
                <c:pt idx="5">
                  <c:v>680</c:v>
                </c:pt>
                <c:pt idx="6">
                  <c:v>540</c:v>
                </c:pt>
                <c:pt idx="7">
                  <c:v>490</c:v>
                </c:pt>
                <c:pt idx="8">
                  <c:v>720</c:v>
                </c:pt>
                <c:pt idx="9">
                  <c:v>520</c:v>
                </c:pt>
                <c:pt idx="10">
                  <c:v>280</c:v>
                </c:pt>
                <c:pt idx="11">
                  <c:v>150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5DA-4FDA-9AEA-2B6533A93A9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91B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91B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12244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FFFFFF"/>
                </a:solidFill>
                <a:latin typeface="Arial"/>
              </a:rPr>
              <a:t>UrbanEV — Avg Utilization by Period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Utilization %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F51-419B-B554-1B55E60B245A}"/>
              </c:ext>
            </c:extLst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F51-419B-B554-1B55E60B245A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CF51-419B-B554-1B55E60B245A}"/>
              </c:ext>
            </c:extLst>
          </c:dPt>
          <c:dPt>
            <c:idx val="3"/>
            <c:invertIfNegative val="0"/>
            <c:bubble3D val="0"/>
            <c:spPr>
              <a:solidFill>
                <a:srgbClr val="22C5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F51-419B-B554-1B55E60B245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Morning Peak</c:v>
                </c:pt>
                <c:pt idx="1">
                  <c:v>Midday</c:v>
                </c:pt>
                <c:pt idx="2">
                  <c:v>Evening Peak</c:v>
                </c:pt>
                <c:pt idx="3">
                  <c:v>Off-Peak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74</c:v>
                </c:pt>
                <c:pt idx="1">
                  <c:v>61</c:v>
                </c:pt>
                <c:pt idx="2">
                  <c:v>78</c:v>
                </c:pt>
                <c:pt idx="3">
                  <c:v>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F51-419B-B554-1B55E60B245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91B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91B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12244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FFFFFF"/>
                </a:solidFill>
                <a:latin typeface="Arial"/>
              </a:rPr>
              <a:t>Model Comparison — RMSE (lower = better)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RMSE</c:v>
                </c:pt>
              </c:strCache>
            </c:strRef>
          </c:tx>
          <c:spPr>
            <a:solidFill>
              <a:srgbClr val="7A91B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99E-48EC-8ABC-389D1976110B}"/>
              </c:ext>
            </c:extLst>
          </c:dPt>
          <c:dPt>
            <c:idx val="1"/>
            <c:invertIfNegative val="0"/>
            <c:bubble3D val="0"/>
            <c:spPr>
              <a:solidFill>
                <a:srgbClr val="3B82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99E-48EC-8ABC-389D1976110B}"/>
              </c:ext>
            </c:extLst>
          </c:dPt>
          <c:dPt>
            <c:idx val="2"/>
            <c:invertIfNegative val="0"/>
            <c:bubble3D val="0"/>
            <c:spPr>
              <a:solidFill>
                <a:srgbClr val="0891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99E-48EC-8ABC-389D1976110B}"/>
              </c:ext>
            </c:extLst>
          </c:dPt>
          <c:dPt>
            <c:idx val="3"/>
            <c:invertIfNegative val="0"/>
            <c:bubble3D val="0"/>
            <c:spPr>
              <a:solidFill>
                <a:srgbClr val="00C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99E-48EC-8ABC-389D1976110B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Ridge
Regression</c:v>
                </c:pt>
                <c:pt idx="1">
                  <c:v>Random
Forest</c:v>
                </c:pt>
                <c:pt idx="2">
                  <c:v>XGBoost</c:v>
                </c:pt>
                <c:pt idx="3">
                  <c:v>LightGBM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0.18210000000000001</c:v>
                </c:pt>
                <c:pt idx="1">
                  <c:v>9.6299999999999997E-2</c:v>
                </c:pt>
                <c:pt idx="2">
                  <c:v>8.7400000000000005E-2</c:v>
                </c:pt>
                <c:pt idx="3">
                  <c:v>8.3099999999999993E-2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099E-48EC-8ABC-389D1976110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91B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91B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12244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FFFFFF"/>
                </a:solidFill>
                <a:latin typeface="Arial"/>
              </a:rPr>
              <a:t>Top Feature Importances (LightGBM)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00C896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util_lag1h</c:v>
                </c:pt>
                <c:pt idx="1">
                  <c:v>occ_lag1h</c:v>
                </c:pt>
                <c:pt idx="2">
                  <c:v>occ_lag24h</c:v>
                </c:pt>
                <c:pt idx="3">
                  <c:v>occ_roll4h</c:v>
                </c:pt>
                <c:pt idx="4">
                  <c:v>hour_sin</c:v>
                </c:pt>
                <c:pt idx="5">
                  <c:v>total_piles</c:v>
                </c:pt>
                <c:pt idx="6">
                  <c:v>hour_cos</c:v>
                </c:pt>
                <c:pt idx="7">
                  <c:v>is_cbd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0.28000000000000003</c:v>
                </c:pt>
                <c:pt idx="1">
                  <c:v>0.22</c:v>
                </c:pt>
                <c:pt idx="2">
                  <c:v>0.15</c:v>
                </c:pt>
                <c:pt idx="3">
                  <c:v>0.1</c:v>
                </c:pt>
                <c:pt idx="4">
                  <c:v>7.0000000000000007E-2</c:v>
                </c:pt>
                <c:pt idx="5">
                  <c:v>0.06</c:v>
                </c:pt>
                <c:pt idx="6">
                  <c:v>0.05</c:v>
                </c:pt>
                <c:pt idx="7">
                  <c:v>0.04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47A-4CB1-94E8-F54E023DC0E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91B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91B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12244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FFFFFF"/>
                </a:solidFill>
                <a:latin typeface="Arial"/>
              </a:rPr>
              <a:t>Revenue: Static vs Dynamic (₹ Millions, estimated)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Static ₹15/kWh</c:v>
                </c:pt>
              </c:strCache>
            </c:strRef>
          </c:tx>
          <c:spPr>
            <a:solidFill>
              <a:srgbClr val="7A91B0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Morning Peak</c:v>
                </c:pt>
                <c:pt idx="1">
                  <c:v>Midday</c:v>
                </c:pt>
                <c:pt idx="2">
                  <c:v>Evening Peak</c:v>
                </c:pt>
                <c:pt idx="3">
                  <c:v>Off-Peak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38</c:v>
                </c:pt>
                <c:pt idx="1">
                  <c:v>28</c:v>
                </c:pt>
                <c:pt idx="2">
                  <c:v>35</c:v>
                </c:pt>
                <c:pt idx="3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B37-4152-A7B7-19F2C548C7A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Dynamic (adj.)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Morning Peak</c:v>
                </c:pt>
                <c:pt idx="1">
                  <c:v>Midday</c:v>
                </c:pt>
                <c:pt idx="2">
                  <c:v>Evening Peak</c:v>
                </c:pt>
                <c:pt idx="3">
                  <c:v>Off-Peak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51</c:v>
                </c:pt>
                <c:pt idx="1">
                  <c:v>27</c:v>
                </c:pt>
                <c:pt idx="2">
                  <c:v>47</c:v>
                </c:pt>
                <c:pt idx="3">
                  <c:v>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B37-4152-A7B7-19F2C548C7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91B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91B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7A91B0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12244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100" b="0" i="0" u="none" strike="noStrike">
                <a:solidFill>
                  <a:srgbClr val="FFFFFF"/>
                </a:solidFill>
                <a:latin typeface="Arial"/>
              </a:rPr>
              <a:t>Learning Curve — Revenue Gain &amp; Pricing Efficiency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Gain %</c:v>
                </c:pt>
              </c:strCache>
            </c:strRef>
          </c:tx>
          <c:spPr>
            <a:ln w="25400" cap="flat">
              <a:solidFill>
                <a:srgbClr val="00C8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C896"/>
              </a:solidFill>
              <a:ln w="9525" cap="flat">
                <a:solidFill>
                  <a:srgbClr val="00C896"/>
                </a:solidFill>
                <a:prstDash val="solid"/>
                <a:round/>
              </a:ln>
              <a:effectLst/>
            </c:spPr>
          </c:marker>
          <c:cat>
            <c:strRef>
              <c:f>Sheet1!$A$2:$A$31</c:f>
              <c:strCach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2.1</c:v>
                </c:pt>
                <c:pt idx="1">
                  <c:v>4.3</c:v>
                </c:pt>
                <c:pt idx="2">
                  <c:v>6.2</c:v>
                </c:pt>
                <c:pt idx="3">
                  <c:v>7.8</c:v>
                </c:pt>
                <c:pt idx="4">
                  <c:v>9.1</c:v>
                </c:pt>
                <c:pt idx="5">
                  <c:v>10.5</c:v>
                </c:pt>
                <c:pt idx="6">
                  <c:v>11.8</c:v>
                </c:pt>
                <c:pt idx="7">
                  <c:v>12.9</c:v>
                </c:pt>
                <c:pt idx="8">
                  <c:v>13.7</c:v>
                </c:pt>
                <c:pt idx="9">
                  <c:v>14.4</c:v>
                </c:pt>
                <c:pt idx="10">
                  <c:v>15.1</c:v>
                </c:pt>
                <c:pt idx="11">
                  <c:v>15.8</c:v>
                </c:pt>
                <c:pt idx="12">
                  <c:v>16.3</c:v>
                </c:pt>
                <c:pt idx="13">
                  <c:v>16.7</c:v>
                </c:pt>
                <c:pt idx="14">
                  <c:v>17</c:v>
                </c:pt>
                <c:pt idx="15">
                  <c:v>17.3</c:v>
                </c:pt>
                <c:pt idx="16">
                  <c:v>17.5</c:v>
                </c:pt>
                <c:pt idx="17">
                  <c:v>17.7</c:v>
                </c:pt>
                <c:pt idx="18">
                  <c:v>17.8</c:v>
                </c:pt>
                <c:pt idx="19">
                  <c:v>17.899999999999999</c:v>
                </c:pt>
                <c:pt idx="20">
                  <c:v>18</c:v>
                </c:pt>
                <c:pt idx="21">
                  <c:v>18.100000000000001</c:v>
                </c:pt>
                <c:pt idx="22">
                  <c:v>18.100000000000001</c:v>
                </c:pt>
                <c:pt idx="23">
                  <c:v>18.2</c:v>
                </c:pt>
                <c:pt idx="24">
                  <c:v>18.2</c:v>
                </c:pt>
                <c:pt idx="25">
                  <c:v>18.3</c:v>
                </c:pt>
                <c:pt idx="26">
                  <c:v>18.3</c:v>
                </c:pt>
                <c:pt idx="27">
                  <c:v>18.399999999999999</c:v>
                </c:pt>
                <c:pt idx="28">
                  <c:v>18.399999999999999</c:v>
                </c:pt>
                <c:pt idx="29">
                  <c:v>18.399999999999999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6836-479F-AF82-A45BBFFA8AC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Pricing Eff (₹/kWh)</c:v>
                </c:pt>
              </c:strCache>
            </c:strRef>
          </c:tx>
          <c:spPr>
            <a:ln w="25400" cap="flat">
              <a:solidFill>
                <a:srgbClr val="F59E0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strRef>
              <c:f>Sheet1!$A$2:$A$31</c:f>
              <c:strCach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strCache>
            </c:strRef>
          </c:cat>
          <c:val>
            <c:numRef>
              <c:f>Sheet1!$C$2:$C$31</c:f>
              <c:numCache>
                <c:formatCode>General</c:formatCode>
                <c:ptCount val="30"/>
                <c:pt idx="0">
                  <c:v>14.2</c:v>
                </c:pt>
                <c:pt idx="1">
                  <c:v>14.5</c:v>
                </c:pt>
                <c:pt idx="2">
                  <c:v>14.9</c:v>
                </c:pt>
                <c:pt idx="3">
                  <c:v>15.3</c:v>
                </c:pt>
                <c:pt idx="4">
                  <c:v>15.7</c:v>
                </c:pt>
                <c:pt idx="5">
                  <c:v>16</c:v>
                </c:pt>
                <c:pt idx="6">
                  <c:v>16.3</c:v>
                </c:pt>
                <c:pt idx="7">
                  <c:v>16.600000000000001</c:v>
                </c:pt>
                <c:pt idx="8">
                  <c:v>16.8</c:v>
                </c:pt>
                <c:pt idx="9">
                  <c:v>17</c:v>
                </c:pt>
                <c:pt idx="10">
                  <c:v>17.2</c:v>
                </c:pt>
                <c:pt idx="11">
                  <c:v>17.399999999999999</c:v>
                </c:pt>
                <c:pt idx="12">
                  <c:v>17.5</c:v>
                </c:pt>
                <c:pt idx="13">
                  <c:v>17.600000000000001</c:v>
                </c:pt>
                <c:pt idx="14">
                  <c:v>17.7</c:v>
                </c:pt>
                <c:pt idx="15">
                  <c:v>17.8</c:v>
                </c:pt>
                <c:pt idx="16">
                  <c:v>17.899999999999999</c:v>
                </c:pt>
                <c:pt idx="17">
                  <c:v>17.899999999999999</c:v>
                </c:pt>
                <c:pt idx="18">
                  <c:v>18</c:v>
                </c:pt>
                <c:pt idx="19">
                  <c:v>18</c:v>
                </c:pt>
                <c:pt idx="20">
                  <c:v>18.100000000000001</c:v>
                </c:pt>
                <c:pt idx="21">
                  <c:v>18.100000000000001</c:v>
                </c:pt>
                <c:pt idx="22">
                  <c:v>18.2</c:v>
                </c:pt>
                <c:pt idx="23">
                  <c:v>18.2</c:v>
                </c:pt>
                <c:pt idx="24">
                  <c:v>18.2</c:v>
                </c:pt>
                <c:pt idx="25">
                  <c:v>18.3</c:v>
                </c:pt>
                <c:pt idx="26">
                  <c:v>18.3</c:v>
                </c:pt>
                <c:pt idx="27">
                  <c:v>18.3</c:v>
                </c:pt>
                <c:pt idx="28">
                  <c:v>18.3</c:v>
                </c:pt>
                <c:pt idx="29">
                  <c:v>18.399999999999999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6836-479F-AF82-A45BBFFA8A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91B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91B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7A91B0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12244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51024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0"/>
            <a:ext cx="2286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132320" y="731520"/>
            <a:ext cx="1828800" cy="1828800"/>
          </a:xfrm>
          <a:prstGeom prst="ellipse">
            <a:avLst/>
          </a:prstGeom>
          <a:solidFill>
            <a:srgbClr val="00C896">
              <a:alpha val="12000"/>
            </a:srgbClr>
          </a:solidFill>
          <a:ln w="12700">
            <a:solidFill>
              <a:srgbClr val="00C89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589520" y="1188720"/>
            <a:ext cx="914400" cy="914400"/>
          </a:xfrm>
          <a:prstGeom prst="ellipse">
            <a:avLst/>
          </a:prstGeom>
          <a:solidFill>
            <a:srgbClr val="0891B2">
              <a:alpha val="20000"/>
            </a:srgbClr>
          </a:solidFill>
          <a:ln w="12700">
            <a:solidFill>
              <a:srgbClr val="0891B2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3474720"/>
            <a:ext cx="1371600" cy="1371600"/>
          </a:xfrm>
          <a:prstGeom prst="ellipse">
            <a:avLst/>
          </a:prstGeom>
          <a:solidFill>
            <a:srgbClr val="0891B2">
              <a:alpha val="10000"/>
            </a:srgbClr>
          </a:solidFill>
          <a:ln w="12700">
            <a:solidFill>
              <a:srgbClr val="0891B2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54864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500" dirty="0">
                <a:solidFill>
                  <a:srgbClr val="00C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AGENTIC AI-BASED   </a:t>
            </a:r>
            <a:r>
              <a:rPr lang="en-US" sz="1500" b="1" kern="0" spc="500" dirty="0" err="1">
                <a:solidFill>
                  <a:srgbClr val="00C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Name:Tushar</a:t>
            </a:r>
            <a:r>
              <a:rPr lang="en-US" sz="1500" b="1" kern="0" spc="500" dirty="0">
                <a:solidFill>
                  <a:srgbClr val="00C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(23321031)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100584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Dynamic Tariff Optimization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457200" y="19202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E2EA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 EV Charging Networks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7200" y="283464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A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Large-Scale Charging Session Data  |  ACN-Data &amp; UrbanEV (ST-EVCDP)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794760"/>
            <a:ext cx="2468880" cy="1005840"/>
          </a:xfrm>
          <a:prstGeom prst="rect">
            <a:avLst/>
          </a:prstGeom>
          <a:solidFill>
            <a:srgbClr val="112244"/>
          </a:solidFill>
          <a:ln w="12700">
            <a:solidFill>
              <a:srgbClr val="00C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385876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C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15K+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548640" y="431596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A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ACN Sessions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91840" y="3794760"/>
            <a:ext cx="2468880" cy="1005840"/>
          </a:xfrm>
          <a:prstGeom prst="rect">
            <a:avLst/>
          </a:prstGeom>
          <a:solidFill>
            <a:srgbClr val="112244"/>
          </a:solidFill>
          <a:ln w="12700">
            <a:solidFill>
              <a:srgbClr val="00C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383280" y="385876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C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247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3383280" y="431596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A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Zones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26480" y="3794760"/>
            <a:ext cx="2468880" cy="1005840"/>
          </a:xfrm>
          <a:prstGeom prst="rect">
            <a:avLst/>
          </a:prstGeom>
          <a:solidFill>
            <a:srgbClr val="112244"/>
          </a:solidFill>
          <a:ln w="12700">
            <a:solidFill>
              <a:srgbClr val="00C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17920" y="385876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C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217920" y="431596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A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43600" y="484632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Project 2026  |  Society of Business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503920" y="182880"/>
            <a:ext cx="502920" cy="292608"/>
          </a:xfrm>
          <a:prstGeom prst="roundRect">
            <a:avLst>
              <a:gd name="adj" fmla="val 25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503920" y="182880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13716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Landscape &amp; Preprocessing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74320" y="62179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A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real-world datasets unified into a single analytical base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4023360" cy="2834640"/>
          </a:xfrm>
          <a:prstGeom prst="rect">
            <a:avLst/>
          </a:prstGeom>
          <a:solidFill>
            <a:srgbClr val="112244"/>
          </a:solidFill>
          <a:ln w="1524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1005840"/>
            <a:ext cx="4023360" cy="3657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10058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ACN-Data (Caltech / JPL)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1508760"/>
            <a:ext cx="3657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15,000 charging sessions (Apr–Dec 2018)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timestamps, energy delivered (kWh)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&amp; cluster IDs, user inputs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Site: US workplace (Caltech, JPL)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3246120"/>
            <a:ext cx="1097280" cy="502920"/>
          </a:xfrm>
          <a:prstGeom prst="rect">
            <a:avLst/>
          </a:prstGeom>
          <a:solidFill>
            <a:srgbClr val="0F2040"/>
          </a:solidFill>
          <a:ln w="1016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5760" y="324612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14,999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5760" y="349300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664208" y="3246120"/>
            <a:ext cx="1097280" cy="502920"/>
          </a:xfrm>
          <a:prstGeom prst="rect">
            <a:avLst/>
          </a:prstGeom>
          <a:solidFill>
            <a:srgbClr val="0F2040"/>
          </a:solidFill>
          <a:ln w="1016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664208" y="324612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27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664208" y="349300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962656" y="3246120"/>
            <a:ext cx="1097280" cy="502920"/>
          </a:xfrm>
          <a:prstGeom prst="rect">
            <a:avLst/>
          </a:prstGeom>
          <a:solidFill>
            <a:srgbClr val="0F2040"/>
          </a:solidFill>
          <a:ln w="1016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962656" y="324612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~8 mo.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962656" y="349300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63440" y="1005840"/>
            <a:ext cx="4206240" cy="2834640"/>
          </a:xfrm>
          <a:prstGeom prst="rect">
            <a:avLst/>
          </a:prstGeom>
          <a:solidFill>
            <a:srgbClr val="112244"/>
          </a:solidFill>
          <a:ln w="15240">
            <a:solidFill>
              <a:srgbClr val="00C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663440" y="1005840"/>
            <a:ext cx="4206240" cy="36576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754880" y="10058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UrbanEV / ST-EVCDP (Shenzhen)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00600" y="1508760"/>
            <a:ext cx="3840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247 grid zones, 8,640 timestamps (5-min)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Occupancy, volume, price, duration per zone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info: fast/slow piles, CBD flag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Location: Shenzhen, China (Jun–Jul 2022)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36592" y="3246120"/>
            <a:ext cx="1170432" cy="502920"/>
          </a:xfrm>
          <a:prstGeom prst="rect">
            <a:avLst/>
          </a:prstGeom>
          <a:solidFill>
            <a:srgbClr val="0F2040"/>
          </a:solidFill>
          <a:ln w="1016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736592" y="3246120"/>
            <a:ext cx="1170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2.1M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736592" y="3493008"/>
            <a:ext cx="11704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099048" y="3246120"/>
            <a:ext cx="1170432" cy="502920"/>
          </a:xfrm>
          <a:prstGeom prst="rect">
            <a:avLst/>
          </a:prstGeom>
          <a:solidFill>
            <a:srgbClr val="0F2040"/>
          </a:solidFill>
          <a:ln w="1016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099048" y="3246120"/>
            <a:ext cx="1170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247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099048" y="3493008"/>
            <a:ext cx="11704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Zones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461504" y="3246120"/>
            <a:ext cx="1170432" cy="502920"/>
          </a:xfrm>
          <a:prstGeom prst="rect">
            <a:avLst/>
          </a:prstGeom>
          <a:solidFill>
            <a:srgbClr val="0F2040"/>
          </a:solidFill>
          <a:ln w="1016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461504" y="3246120"/>
            <a:ext cx="1170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5-min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461504" y="3493008"/>
            <a:ext cx="11704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74320" y="3977640"/>
            <a:ext cx="8595360" cy="932688"/>
          </a:xfrm>
          <a:prstGeom prst="rect">
            <a:avLst/>
          </a:prstGeom>
          <a:solidFill>
            <a:srgbClr val="0D1E3A"/>
          </a:solidFill>
          <a:ln w="10160">
            <a:solidFill>
              <a:srgbClr val="F5C8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57200" y="400507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5C8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PREPROCESSING DECISIONS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4279392"/>
            <a:ext cx="8229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split (80/20) — no shuffle to prevent leakage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 features: 1h, 2h, 24h occupancy  +  4h rolling mean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Cyclical encoding: hour_sin/cos, dow_sin/cos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Utilization = occupancy ÷ total_piles; idle_time = session − charge duration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503920" y="182880"/>
            <a:ext cx="502920" cy="292608"/>
          </a:xfrm>
          <a:prstGeom prst="roundRect">
            <a:avLst>
              <a:gd name="adj" fmla="val 25000"/>
            </a:avLst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503920" y="182880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EDA Findings &amp; Demand Behavior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74320" y="62179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A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patterns, utilization distribution, and pricing trigger zones</a:t>
            </a:r>
            <a:endParaRPr lang="en-US" sz="12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274320" y="960120"/>
          <a:ext cx="411480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Chart 1"/>
          <p:cNvGraphicFramePr/>
          <p:nvPr/>
        </p:nvGraphicFramePr>
        <p:xfrm>
          <a:off x="4754880" y="960120"/>
          <a:ext cx="411480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Shape 5"/>
          <p:cNvSpPr/>
          <p:nvPr/>
        </p:nvSpPr>
        <p:spPr>
          <a:xfrm>
            <a:off x="274320" y="3218688"/>
            <a:ext cx="2029968" cy="1691640"/>
          </a:xfrm>
          <a:prstGeom prst="rect">
            <a:avLst/>
          </a:prstGeom>
          <a:solidFill>
            <a:srgbClr val="112244"/>
          </a:solidFill>
          <a:ln w="1524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274320" y="3218688"/>
            <a:ext cx="2029968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365760" y="3328416"/>
            <a:ext cx="184708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(8–10am) &amp; Evening (5–7pm) peaks drive 60%+ of sessions — prime surge windows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2450592" y="3218688"/>
            <a:ext cx="2029968" cy="1691640"/>
          </a:xfrm>
          <a:prstGeom prst="rect">
            <a:avLst/>
          </a:prstGeom>
          <a:solidFill>
            <a:srgbClr val="112244"/>
          </a:solidFill>
          <a:ln w="1524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2450592" y="3218688"/>
            <a:ext cx="2029968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2542032" y="3328416"/>
            <a:ext cx="184708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 sessions 3× weekend — workplace &amp; fleet charging dominate ACN behaviour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626864" y="3218688"/>
            <a:ext cx="2029968" cy="1691640"/>
          </a:xfrm>
          <a:prstGeom prst="rect">
            <a:avLst/>
          </a:prstGeom>
          <a:solidFill>
            <a:srgbClr val="112244"/>
          </a:solidFill>
          <a:ln w="15240">
            <a:solidFill>
              <a:srgbClr val="00C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4626864" y="3218688"/>
            <a:ext cx="2029968" cy="54864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4718304" y="3328416"/>
            <a:ext cx="184708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34% of UrbanEV slots qualify for surge (&gt;80%); 41% for discount pricing (&lt;30%)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6803136" y="3218688"/>
            <a:ext cx="2029968" cy="1691640"/>
          </a:xfrm>
          <a:prstGeom prst="rect">
            <a:avLst/>
          </a:prstGeom>
          <a:solidFill>
            <a:srgbClr val="112244"/>
          </a:solidFill>
          <a:ln w="15240">
            <a:solidFill>
              <a:srgbClr val="F5C84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6803136" y="3218688"/>
            <a:ext cx="2029968" cy="54864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6894576" y="3328416"/>
            <a:ext cx="184708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CBD zones avg 12% higher utilization vs non-CBD — stronger case for surge premiums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274320" y="3090672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7A91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503920" y="182880"/>
            <a:ext cx="502920" cy="292608"/>
          </a:xfrm>
          <a:prstGeom prst="roundRect">
            <a:avLst>
              <a:gd name="adj" fmla="val 25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503920" y="182880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1 — Demand Prediction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74320" y="6217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A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station utilization rate &amp; congestion probability using temporal ML models</a:t>
            </a:r>
            <a:endParaRPr lang="en-US" sz="12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274320" y="914400"/>
          <a:ext cx="4389120" cy="2423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Chart 1"/>
          <p:cNvGraphicFramePr/>
          <p:nvPr/>
        </p:nvGraphicFramePr>
        <p:xfrm>
          <a:off x="4937760" y="914400"/>
          <a:ext cx="3931920" cy="2423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Shape 5"/>
          <p:cNvSpPr/>
          <p:nvPr/>
        </p:nvSpPr>
        <p:spPr>
          <a:xfrm>
            <a:off x="274320" y="3520440"/>
            <a:ext cx="2029968" cy="1371600"/>
          </a:xfrm>
          <a:prstGeom prst="rect">
            <a:avLst/>
          </a:prstGeom>
          <a:solidFill>
            <a:srgbClr val="112244"/>
          </a:solidFill>
          <a:ln w="19050">
            <a:solidFill>
              <a:srgbClr val="00C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365760" y="3566160"/>
            <a:ext cx="18470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A91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RMSE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365760" y="3822192"/>
            <a:ext cx="18470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C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0.0831</a:t>
            </a:r>
            <a:endParaRPr lang="en-US" sz="3000" dirty="0"/>
          </a:p>
        </p:txBody>
      </p:sp>
      <p:sp>
        <p:nvSpPr>
          <p:cNvPr id="12" name="Text 8"/>
          <p:cNvSpPr/>
          <p:nvPr/>
        </p:nvSpPr>
        <p:spPr>
          <a:xfrm>
            <a:off x="365760" y="4352544"/>
            <a:ext cx="18470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7A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— best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2450592" y="3520440"/>
            <a:ext cx="2029968" cy="1371600"/>
          </a:xfrm>
          <a:prstGeom prst="rect">
            <a:avLst/>
          </a:prstGeom>
          <a:solidFill>
            <a:srgbClr val="112244"/>
          </a:solidFill>
          <a:ln w="1905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2542032" y="3566160"/>
            <a:ext cx="18470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A91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MAE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2542032" y="3822192"/>
            <a:ext cx="18470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0.0614</a:t>
            </a:r>
            <a:endParaRPr lang="en-US" sz="3000" dirty="0"/>
          </a:p>
        </p:txBody>
      </p:sp>
      <p:sp>
        <p:nvSpPr>
          <p:cNvPr id="16" name="Text 12"/>
          <p:cNvSpPr/>
          <p:nvPr/>
        </p:nvSpPr>
        <p:spPr>
          <a:xfrm>
            <a:off x="2542032" y="4352544"/>
            <a:ext cx="18470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7A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abs. error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4626864" y="3520440"/>
            <a:ext cx="2029968" cy="1371600"/>
          </a:xfrm>
          <a:prstGeom prst="rect">
            <a:avLst/>
          </a:prstGeom>
          <a:solidFill>
            <a:srgbClr val="112244"/>
          </a:solidFill>
          <a:ln w="1905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4718304" y="3566160"/>
            <a:ext cx="18470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A91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R² Score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4718304" y="3822192"/>
            <a:ext cx="18470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0.873</a:t>
            </a:r>
            <a:endParaRPr lang="en-US" sz="3000" dirty="0"/>
          </a:p>
        </p:txBody>
      </p:sp>
      <p:sp>
        <p:nvSpPr>
          <p:cNvPr id="20" name="Text 16"/>
          <p:cNvSpPr/>
          <p:nvPr/>
        </p:nvSpPr>
        <p:spPr>
          <a:xfrm>
            <a:off x="4718304" y="4352544"/>
            <a:ext cx="18470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7A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explained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6803136" y="3520440"/>
            <a:ext cx="2029968" cy="1371600"/>
          </a:xfrm>
          <a:prstGeom prst="rect">
            <a:avLst/>
          </a:prstGeom>
          <a:solidFill>
            <a:srgbClr val="112244"/>
          </a:solidFill>
          <a:ln w="19050">
            <a:solidFill>
              <a:srgbClr val="F5C84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6894576" y="3566160"/>
            <a:ext cx="18470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A91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AUC-ROC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6894576" y="3822192"/>
            <a:ext cx="18470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C8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0.921</a:t>
            </a:r>
            <a:endParaRPr lang="en-US" sz="3000" dirty="0"/>
          </a:p>
        </p:txBody>
      </p:sp>
      <p:sp>
        <p:nvSpPr>
          <p:cNvPr id="24" name="Text 20"/>
          <p:cNvSpPr/>
          <p:nvPr/>
        </p:nvSpPr>
        <p:spPr>
          <a:xfrm>
            <a:off x="6894576" y="4352544"/>
            <a:ext cx="18470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7A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 classifier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274320" y="4800600"/>
            <a:ext cx="8595360" cy="256032"/>
          </a:xfrm>
          <a:prstGeom prst="rect">
            <a:avLst/>
          </a:prstGeom>
          <a:solidFill>
            <a:srgbClr val="0F2040"/>
          </a:solidFill>
          <a:ln w="6350">
            <a:solidFill>
              <a:srgbClr val="7A91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/>
          <p:nvPr/>
        </p:nvSpPr>
        <p:spPr>
          <a:xfrm>
            <a:off x="365760" y="4818888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A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Temporal split used (train: first 80%, test: last 20%) — no random shuffle to prevent data leakage across time windows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503920" y="182880"/>
            <a:ext cx="502920" cy="292608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503920" y="182880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</a:rPr>
              <a:t>04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2 — Dynamic Tariff Optimization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74320" y="6217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A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Translating demand forecasts into optimal ₹/kWh pricing with surge &amp; discount logic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987552"/>
            <a:ext cx="1828800" cy="1051560"/>
          </a:xfrm>
          <a:prstGeom prst="rect">
            <a:avLst/>
          </a:prstGeom>
          <a:solidFill>
            <a:srgbClr val="22C55E">
              <a:alpha val="18000"/>
            </a:srgbClr>
          </a:solidFill>
          <a:ln w="190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10058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DISCOUNT ZONE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" y="1307592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 &lt; 30%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20040" y="1536192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₹7.5–14/kWh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331720" y="987552"/>
            <a:ext cx="2743200" cy="1051560"/>
          </a:xfrm>
          <a:prstGeom prst="rect">
            <a:avLst/>
          </a:prstGeom>
          <a:solidFill>
            <a:srgbClr val="0891B2">
              <a:alpha val="18000"/>
            </a:srgbClr>
          </a:solidFill>
          <a:ln w="190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377440" y="10058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STANDARD ZONE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377440" y="1307592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≤ Util ≤ 80%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377440" y="1536192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₹15/kWh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303520" y="987552"/>
            <a:ext cx="3429000" cy="1051560"/>
          </a:xfrm>
          <a:prstGeom prst="rect">
            <a:avLst/>
          </a:prstGeom>
          <a:solidFill>
            <a:srgbClr val="EF4444">
              <a:alpha val="18000"/>
            </a:srgbClr>
          </a:solidFill>
          <a:ln w="190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349240" y="100584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SURGE ZONE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349240" y="1307592"/>
            <a:ext cx="3337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 &gt; 80%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349240" y="1536192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₹15–27/kWh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74320" y="2176272"/>
            <a:ext cx="8595360" cy="502920"/>
          </a:xfrm>
          <a:prstGeom prst="rect">
            <a:avLst/>
          </a:prstGeom>
          <a:solidFill>
            <a:srgbClr val="0D1E3A"/>
          </a:solidFill>
          <a:ln w="10160">
            <a:solidFill>
              <a:srgbClr val="F5C8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7200" y="2212848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Surge:  </a:t>
            </a:r>
            <a:r>
              <a:rPr lang="en-US" sz="12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₹15 × (1 + 0.8 × excess)   |   </a:t>
            </a: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Discount:  </a:t>
            </a:r>
            <a:r>
              <a:rPr lang="en-US" sz="12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₹15 × (1 − 0.5 × deficit)   |   </a:t>
            </a:r>
            <a:r>
              <a:rPr lang="en-US" sz="1200" i="1" dirty="0">
                <a:solidFill>
                  <a:srgbClr val="7A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bounds: ₹5 floor  /  ₹30 cap</a:t>
            </a:r>
            <a:endParaRPr lang="en-US" sz="1200" dirty="0"/>
          </a:p>
        </p:txBody>
      </p:sp>
      <p:graphicFrame>
        <p:nvGraphicFramePr>
          <p:cNvPr id="21" name="Chart 0"/>
          <p:cNvGraphicFramePr/>
          <p:nvPr/>
        </p:nvGraphicFramePr>
        <p:xfrm>
          <a:off x="274320" y="2788920"/>
          <a:ext cx="5029200" cy="2148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2" name="Shape 19"/>
          <p:cNvSpPr/>
          <p:nvPr/>
        </p:nvSpPr>
        <p:spPr>
          <a:xfrm>
            <a:off x="5577840" y="2788920"/>
            <a:ext cx="1060704" cy="2148840"/>
          </a:xfrm>
          <a:prstGeom prst="rect">
            <a:avLst/>
          </a:prstGeom>
          <a:solidFill>
            <a:srgbClr val="112244"/>
          </a:solidFill>
          <a:ln w="19050">
            <a:solidFill>
              <a:srgbClr val="00C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5614416" y="2852928"/>
            <a:ext cx="987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A91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Revenue Gain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5614416" y="3291840"/>
            <a:ext cx="987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+18.4%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5614416" y="4096512"/>
            <a:ext cx="987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7A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₹15/kWh static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6739128" y="2788920"/>
            <a:ext cx="1060704" cy="2148840"/>
          </a:xfrm>
          <a:prstGeom prst="rect">
            <a:avLst/>
          </a:prstGeom>
          <a:solidFill>
            <a:srgbClr val="112244"/>
          </a:solidFill>
          <a:ln w="1905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6775704" y="2852928"/>
            <a:ext cx="987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A91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Off-Peak Uplift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6775704" y="3291840"/>
            <a:ext cx="987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+16.7%</a:t>
            </a:r>
            <a:endParaRPr lang="en-US" sz="2200" dirty="0"/>
          </a:p>
        </p:txBody>
      </p:sp>
      <p:sp>
        <p:nvSpPr>
          <p:cNvPr id="29" name="Text 26"/>
          <p:cNvSpPr/>
          <p:nvPr/>
        </p:nvSpPr>
        <p:spPr>
          <a:xfrm>
            <a:off x="6775704" y="4096512"/>
            <a:ext cx="987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7A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sessions &lt;30%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7900416" y="2788920"/>
            <a:ext cx="1060704" cy="2148840"/>
          </a:xfrm>
          <a:prstGeom prst="rect">
            <a:avLst/>
          </a:prstGeom>
          <a:solidFill>
            <a:srgbClr val="112244"/>
          </a:solidFill>
          <a:ln w="1905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7936992" y="2852928"/>
            <a:ext cx="987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A91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ACN Cross-Val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7936992" y="3291840"/>
            <a:ext cx="987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+11.2%</a:t>
            </a:r>
            <a:endParaRPr lang="en-US" sz="2200" dirty="0"/>
          </a:p>
        </p:txBody>
      </p:sp>
      <p:sp>
        <p:nvSpPr>
          <p:cNvPr id="33" name="Text 30"/>
          <p:cNvSpPr/>
          <p:nvPr/>
        </p:nvSpPr>
        <p:spPr>
          <a:xfrm>
            <a:off x="7936992" y="4096512"/>
            <a:ext cx="987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7A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on ACN data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274320" y="484632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A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Elasticity assumption: ε = −0.5 (moderate price sensitivity)  |  Figures are simulation estimates, not causal claims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503920" y="182880"/>
            <a:ext cx="502920" cy="292608"/>
          </a:xfrm>
          <a:prstGeom prst="roundRect">
            <a:avLst>
              <a:gd name="adj" fmla="val 25000"/>
            </a:avLst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503920" y="182880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</a:rPr>
              <a:t>05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3 — Monitoring &amp; Learning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74320" y="6217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A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30-episode feedback loop: pricing parameters converge, efficiency improves, wait-times fall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8600" y="987552"/>
            <a:ext cx="1417320" cy="658368"/>
          </a:xfrm>
          <a:prstGeom prst="rect">
            <a:avLst/>
          </a:prstGeom>
          <a:solidFill>
            <a:srgbClr val="3B82F6">
              <a:alpha val="25000"/>
            </a:srgbClr>
          </a:solidFill>
          <a:ln w="1524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28600" y="987552"/>
            <a:ext cx="1417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Demand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Forecast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645920" y="1316736"/>
            <a:ext cx="320040" cy="0"/>
          </a:xfrm>
          <a:prstGeom prst="line">
            <a:avLst/>
          </a:prstGeom>
          <a:noFill/>
          <a:ln w="19050">
            <a:solidFill>
              <a:srgbClr val="7A91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801368" y="1234440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1B0"/>
                </a:solidFill>
              </a:rPr>
              <a:t>▶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965960" y="987552"/>
            <a:ext cx="1417320" cy="658368"/>
          </a:xfrm>
          <a:prstGeom prst="rect">
            <a:avLst/>
          </a:prstGeom>
          <a:solidFill>
            <a:srgbClr val="F59E0B">
              <a:alpha val="25000"/>
            </a:srgbClr>
          </a:solidFill>
          <a:ln w="1524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965960" y="987552"/>
            <a:ext cx="1417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Tariff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83280" y="1316736"/>
            <a:ext cx="320040" cy="0"/>
          </a:xfrm>
          <a:prstGeom prst="line">
            <a:avLst/>
          </a:prstGeom>
          <a:noFill/>
          <a:ln w="19050">
            <a:solidFill>
              <a:srgbClr val="7A91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538728" y="1234440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1B0"/>
                </a:solidFill>
              </a:rPr>
              <a:t>▶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703320" y="987552"/>
            <a:ext cx="1417320" cy="658368"/>
          </a:xfrm>
          <a:prstGeom prst="rect">
            <a:avLst/>
          </a:prstGeom>
          <a:solidFill>
            <a:srgbClr val="F5C842">
              <a:alpha val="25000"/>
            </a:srgbClr>
          </a:solidFill>
          <a:ln w="15240">
            <a:solidFill>
              <a:srgbClr val="F5C8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703320" y="987552"/>
            <a:ext cx="1417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Pricing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120640" y="1316736"/>
            <a:ext cx="320040" cy="0"/>
          </a:xfrm>
          <a:prstGeom prst="line">
            <a:avLst/>
          </a:prstGeom>
          <a:noFill/>
          <a:ln w="19050">
            <a:solidFill>
              <a:srgbClr val="7A91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276088" y="1234440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1B0"/>
                </a:solidFill>
              </a:rPr>
              <a:t>▶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40680" y="987552"/>
            <a:ext cx="1417320" cy="658368"/>
          </a:xfrm>
          <a:prstGeom prst="rect">
            <a:avLst/>
          </a:prstGeom>
          <a:solidFill>
            <a:srgbClr val="0891B2">
              <a:alpha val="25000"/>
            </a:srgbClr>
          </a:solidFill>
          <a:ln w="1524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40680" y="987552"/>
            <a:ext cx="1417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Outcomes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858000" y="1316736"/>
            <a:ext cx="320040" cy="0"/>
          </a:xfrm>
          <a:prstGeom prst="line">
            <a:avLst/>
          </a:prstGeom>
          <a:noFill/>
          <a:ln w="19050">
            <a:solidFill>
              <a:srgbClr val="7A91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013448" y="1234440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1B0"/>
                </a:solidFill>
              </a:rPr>
              <a:t>▶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178040" y="987552"/>
            <a:ext cx="1417320" cy="658368"/>
          </a:xfrm>
          <a:prstGeom prst="rect">
            <a:avLst/>
          </a:prstGeom>
          <a:solidFill>
            <a:srgbClr val="00C896">
              <a:alpha val="25000"/>
            </a:srgbClr>
          </a:solidFill>
          <a:ln w="1524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178040" y="987552"/>
            <a:ext cx="1417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Update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Params</a:t>
            </a:r>
            <a:endParaRPr lang="en-US" sz="1000" dirty="0"/>
          </a:p>
        </p:txBody>
      </p:sp>
      <p:graphicFrame>
        <p:nvGraphicFramePr>
          <p:cNvPr id="25" name="Chart 0"/>
          <p:cNvGraphicFramePr/>
          <p:nvPr/>
        </p:nvGraphicFramePr>
        <p:xfrm>
          <a:off x="274320" y="1783080"/>
          <a:ext cx="530352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6" name="Shape 23"/>
          <p:cNvSpPr/>
          <p:nvPr/>
        </p:nvSpPr>
        <p:spPr>
          <a:xfrm>
            <a:off x="5806440" y="1783080"/>
            <a:ext cx="3063240" cy="402336"/>
          </a:xfrm>
          <a:prstGeom prst="rect">
            <a:avLst/>
          </a:prstGeom>
          <a:solidFill>
            <a:srgbClr val="112244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5897880" y="1819656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Revenue Gain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7452360" y="1801368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0C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+18.4%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5806440" y="2249424"/>
            <a:ext cx="3063240" cy="402336"/>
          </a:xfrm>
          <a:prstGeom prst="rect">
            <a:avLst/>
          </a:prstGeom>
          <a:solidFill>
            <a:srgbClr val="112244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5897880" y="2286000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Wait Time Reduction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7452360" y="2267712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22.3%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5806440" y="2715768"/>
            <a:ext cx="3063240" cy="402336"/>
          </a:xfrm>
          <a:prstGeom prst="rect">
            <a:avLst/>
          </a:prstGeom>
          <a:solidFill>
            <a:srgbClr val="112244"/>
          </a:solidFill>
          <a:ln w="12700">
            <a:solidFill>
              <a:srgbClr val="F5C8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5897880" y="2752344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Response Rate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7452360" y="2734056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5C8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8.6%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5806440" y="3182112"/>
            <a:ext cx="3063240" cy="402336"/>
          </a:xfrm>
          <a:prstGeom prst="rect">
            <a:avLst/>
          </a:prstGeom>
          <a:solidFill>
            <a:srgbClr val="112244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5897880" y="3218688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Eff. Score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7452360" y="320040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₹18.4/kWh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5806440" y="3648456"/>
            <a:ext cx="3063240" cy="402336"/>
          </a:xfrm>
          <a:prstGeom prst="rect">
            <a:avLst/>
          </a:prstGeom>
          <a:solidFill>
            <a:srgbClr val="112244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5897880" y="3685032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Episodes to Convergence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7452360" y="3666744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≈22</a:t>
            </a: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274320" y="4224528"/>
            <a:ext cx="8595360" cy="658368"/>
          </a:xfrm>
          <a:prstGeom prst="rect">
            <a:avLst/>
          </a:prstGeom>
          <a:solidFill>
            <a:srgbClr val="0D1E3A"/>
          </a:solidFill>
          <a:ln w="6350">
            <a:solidFill>
              <a:srgbClr val="7A91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457200" y="425196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F5C8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ASSUMPTION &amp; LIMITATION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457200" y="445312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A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feedback loop is simulated via iterative gradient-based parameter refinement toward empirically calibrated true values. Production deployment would require live A/B testing, real-time OCPP data ingestion, and reinforcement learning with an actual reward signal.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503920" y="182880"/>
            <a:ext cx="502920" cy="292608"/>
          </a:xfrm>
          <a:prstGeom prst="roundRect">
            <a:avLst>
              <a:gd name="adj" fmla="val 25000"/>
            </a:avLst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503920" y="182880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Business, Operational &amp; Policy Implications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4320" y="6217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A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data-driven pricing to grid-intelligent EV infrastructure policy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024128"/>
            <a:ext cx="2788920" cy="1783080"/>
          </a:xfrm>
          <a:prstGeom prst="rect">
            <a:avLst/>
          </a:prstGeom>
          <a:solidFill>
            <a:srgbClr val="112244"/>
          </a:solidFill>
          <a:ln w="15240">
            <a:solidFill>
              <a:srgbClr val="00C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1024128"/>
            <a:ext cx="2788920" cy="320040"/>
          </a:xfrm>
          <a:prstGeom prst="rect">
            <a:avLst/>
          </a:prstGeom>
          <a:solidFill>
            <a:srgbClr val="00C896">
              <a:alpha val="22000"/>
            </a:srgbClr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1060704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Revenue Optimization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1408176"/>
            <a:ext cx="2606040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pricing yields ~18% revenue uplift vs flat ₹15/kWh, concentrated in peak hours. Net positive even after elasticity-adjusted demand reduction.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18688" y="1024128"/>
            <a:ext cx="2788920" cy="1783080"/>
          </a:xfrm>
          <a:prstGeom prst="rect">
            <a:avLst/>
          </a:prstGeom>
          <a:solidFill>
            <a:srgbClr val="112244"/>
          </a:solidFill>
          <a:ln w="1524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18688" y="1024128"/>
            <a:ext cx="2788920" cy="320040"/>
          </a:xfrm>
          <a:prstGeom prst="rect">
            <a:avLst/>
          </a:prstGeom>
          <a:solidFill>
            <a:srgbClr val="0891B2">
              <a:alpha val="22000"/>
            </a:srgbClr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310128" y="1060704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Congestion Reduction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10128" y="1408176"/>
            <a:ext cx="2606040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 pricing redistributes demand to midday &amp; off-peak windows — estimated 22% reduction in peak-hour queue lengths.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63056" y="1024128"/>
            <a:ext cx="2788920" cy="1783080"/>
          </a:xfrm>
          <a:prstGeom prst="rect">
            <a:avLst/>
          </a:prstGeom>
          <a:solidFill>
            <a:srgbClr val="112244"/>
          </a:solidFill>
          <a:ln w="1524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163056" y="1024128"/>
            <a:ext cx="2788920" cy="320040"/>
          </a:xfrm>
          <a:prstGeom prst="rect">
            <a:avLst/>
          </a:prstGeom>
          <a:solidFill>
            <a:srgbClr val="3B82F6">
              <a:alpha val="22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254496" y="1060704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Infrastructure Efficiency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54496" y="1408176"/>
            <a:ext cx="2606040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zones improve charger throughput by 17%. CBD fast-charger grids are best positioned for surge due to lower price sensitivity.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944368"/>
            <a:ext cx="2788920" cy="1783080"/>
          </a:xfrm>
          <a:prstGeom prst="rect">
            <a:avLst/>
          </a:prstGeom>
          <a:solidFill>
            <a:srgbClr val="112244"/>
          </a:solidFill>
          <a:ln w="1524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74320" y="2944368"/>
            <a:ext cx="2788920" cy="320040"/>
          </a:xfrm>
          <a:prstGeom prst="rect">
            <a:avLst/>
          </a:prstGeom>
          <a:solidFill>
            <a:srgbClr val="F59E0B">
              <a:alpha val="22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65760" y="2980944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Grid Demand Management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3328416"/>
            <a:ext cx="2606040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demand smoothing reduces peak electricity procurement costs and aligns EV charging with renewable energy surplus periods.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18688" y="2944368"/>
            <a:ext cx="2788920" cy="1783080"/>
          </a:xfrm>
          <a:prstGeom prst="rect">
            <a:avLst/>
          </a:prstGeom>
          <a:solidFill>
            <a:srgbClr val="112244"/>
          </a:solidFill>
          <a:ln w="15240">
            <a:solidFill>
              <a:srgbClr val="F5C84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218688" y="2944368"/>
            <a:ext cx="2788920" cy="320040"/>
          </a:xfrm>
          <a:prstGeom prst="rect">
            <a:avLst/>
          </a:prstGeom>
          <a:solidFill>
            <a:srgbClr val="F5C842">
              <a:alpha val="22000"/>
            </a:srgbClr>
          </a:solidFill>
          <a:ln w="12700">
            <a:solidFill>
              <a:srgbClr val="F5C8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310128" y="2980944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C8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Policy Recommendations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310128" y="3328416"/>
            <a:ext cx="2606040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Mandate advance tariff display for transparency. Enforce ₹5 floor pricing. Subsidize off-peak charging for equity in EV adoption.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163056" y="2944368"/>
            <a:ext cx="2788920" cy="1783080"/>
          </a:xfrm>
          <a:prstGeom prst="rect">
            <a:avLst/>
          </a:prstGeom>
          <a:solidFill>
            <a:srgbClr val="112244"/>
          </a:solidFill>
          <a:ln w="15240">
            <a:solidFill>
              <a:srgbClr val="7A91B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163056" y="2944368"/>
            <a:ext cx="2788920" cy="320040"/>
          </a:xfrm>
          <a:prstGeom prst="rect">
            <a:avLst/>
          </a:prstGeom>
          <a:solidFill>
            <a:srgbClr val="7A91B0">
              <a:alpha val="22000"/>
            </a:srgbClr>
          </a:solidFill>
          <a:ln w="12700">
            <a:solidFill>
              <a:srgbClr val="7A91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254496" y="2980944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A91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Limitations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54496" y="3328416"/>
            <a:ext cx="2606040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Elasticity (ε = −0.5) is assumed. ACN is US workplace data. UrbanEV covers only Shenzhen (Jun–Jul 2022). Correlational, not causal.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7A91B0"/>
          </a:solidFill>
          <a:ln w="12700">
            <a:solidFill>
              <a:srgbClr val="7A91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366760" y="182880"/>
            <a:ext cx="685800" cy="292608"/>
          </a:xfrm>
          <a:prstGeom prst="roundRect">
            <a:avLst>
              <a:gd name="adj" fmla="val 25000"/>
            </a:avLst>
          </a:prstGeom>
          <a:solidFill>
            <a:srgbClr val="0D1E3A"/>
          </a:solidFill>
          <a:ln w="12700">
            <a:solidFill>
              <a:srgbClr val="7A91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366760" y="182880"/>
            <a:ext cx="685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kern="0" spc="100" dirty="0">
                <a:solidFill>
                  <a:srgbClr val="7A91B0"/>
                </a:solidFill>
              </a:rPr>
              <a:t>APPENDIX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7432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Appendix — Robustness Checks &amp; Additional Analysis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80467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C8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A1  Sensitivity Analysis — Revenue Gain vs Demand Elasticity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97280"/>
          <a:ext cx="8778240" cy="694944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6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96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67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167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1673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5C8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Elasticity (ε)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2EA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C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−0.5 (used)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896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2EA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2EA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7A9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7A9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Gain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C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+24.1%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C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+18.4%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896">
                        <a:alpha val="1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2EA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+11.2%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7A9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+7.3%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7A9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274320" y="20574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A2  Additional Checks &amp; Observations</a:t>
            </a:r>
            <a:endParaRPr lang="en-US" sz="1200" dirty="0"/>
          </a:p>
        </p:txBody>
      </p:sp>
      <p:sp>
        <p:nvSpPr>
          <p:cNvPr id="7" name="Shape 6"/>
          <p:cNvSpPr/>
          <p:nvPr/>
        </p:nvSpPr>
        <p:spPr>
          <a:xfrm>
            <a:off x="274320" y="2377440"/>
            <a:ext cx="4160520" cy="1207008"/>
          </a:xfrm>
          <a:prstGeom prst="rect">
            <a:avLst/>
          </a:prstGeom>
          <a:solidFill>
            <a:srgbClr val="112244"/>
          </a:solidFill>
          <a:ln w="7620">
            <a:solidFill>
              <a:srgbClr val="7A91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384048" y="245059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ACN Idle Time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84048" y="2724912"/>
            <a:ext cx="393192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idle time = 42% of session. High idle fraction → opportunity for idle-time overstay fees to free chargers.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617720" y="2377440"/>
            <a:ext cx="4160520" cy="1207008"/>
          </a:xfrm>
          <a:prstGeom prst="rect">
            <a:avLst/>
          </a:prstGeom>
          <a:solidFill>
            <a:srgbClr val="112244"/>
          </a:solidFill>
          <a:ln w="7620">
            <a:solidFill>
              <a:srgbClr val="7A91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727448" y="245059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CBD Zone Premium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727448" y="2724912"/>
            <a:ext cx="393192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CBD grids average 12% higher utilization; fast-charger ratio positively correlates with occupancy (r = 0.31).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274320" y="3675888"/>
            <a:ext cx="4160520" cy="1207008"/>
          </a:xfrm>
          <a:prstGeom prst="rect">
            <a:avLst/>
          </a:prstGeom>
          <a:solidFill>
            <a:srgbClr val="112244"/>
          </a:solidFill>
          <a:ln w="7620">
            <a:solidFill>
              <a:srgbClr val="7A91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384048" y="37490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Seasonal Limit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84048" y="4023360"/>
            <a:ext cx="393192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UrbanEV covers only Jun–Jul 2022. Winter demand patterns and monsoon effects are not captured in this analysis.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617720" y="3675888"/>
            <a:ext cx="4160520" cy="1207008"/>
          </a:xfrm>
          <a:prstGeom prst="rect">
            <a:avLst/>
          </a:prstGeom>
          <a:solidFill>
            <a:srgbClr val="112244"/>
          </a:solidFill>
          <a:ln w="7620">
            <a:solidFill>
              <a:srgbClr val="7A91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4727448" y="37490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 Geography Gap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727448" y="4023360"/>
            <a:ext cx="393192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ACN = US workplace; UrbanEV = Shenzhen urban. Generalization to India's public EV network requires local calibration.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983</Words>
  <Application>Microsoft Office PowerPoint</Application>
  <PresentationFormat>On-screen Show (16:9)</PresentationFormat>
  <Paragraphs>170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OP26 — Agentic AI Dynamic Tariff Optimization for EV Charging</dc:title>
  <dc:subject>PptxGenJS Presentation</dc:subject>
  <dc:creator>PptxGenJS</dc:creator>
  <cp:lastModifiedBy>TUSHAR SINGH</cp:lastModifiedBy>
  <cp:revision>3</cp:revision>
  <dcterms:created xsi:type="dcterms:W3CDTF">2026-06-07T11:49:55Z</dcterms:created>
  <dcterms:modified xsi:type="dcterms:W3CDTF">2026-06-07T11:55:46Z</dcterms:modified>
</cp:coreProperties>
</file>